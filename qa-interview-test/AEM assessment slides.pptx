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4"/>
  </p:notesMasterIdLst>
  <p:handoutMasterIdLst>
    <p:handoutMasterId r:id="rId15"/>
  </p:handoutMasterIdLst>
  <p:sldIdLst>
    <p:sldId id="256" r:id="rId5"/>
    <p:sldId id="297" r:id="rId6"/>
    <p:sldId id="295" r:id="rId7"/>
    <p:sldId id="298" r:id="rId8"/>
    <p:sldId id="262" r:id="rId9"/>
    <p:sldId id="296" r:id="rId10"/>
    <p:sldId id="299" r:id="rId11"/>
    <p:sldId id="270"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10/28/2026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10/28/2026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a:t>Year</a:t>
            </a:r>
            <a:endParaRPr lang="en-ZA"/>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a:t>Year</a:t>
            </a:r>
            <a:endParaRPr lang="en-ZA"/>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6776"/>
            <a:ext cx="10515600" cy="3697645"/>
          </a:xfrm>
        </p:spPr>
        <p:txBody>
          <a:bodyPr/>
          <a:lstStyle>
            <a:lvl1pPr>
              <a:defRPr>
                <a:solidFill>
                  <a:schemeClr val="tx1">
                    <a:lumMod val="75000"/>
                    <a:lumOff val="25000"/>
                  </a:schemeClr>
                </a:solidFill>
              </a:defRPr>
            </a:lvl1pPr>
          </a:lstStyle>
          <a:p>
            <a:r>
              <a:rPr lang="en-US"/>
              <a:t>Click icon to add SmartArt graphic</a:t>
            </a:r>
            <a:endParaRPr lang="en-US" dirty="0"/>
          </a:p>
        </p:txBody>
      </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1" y="3973286"/>
            <a:ext cx="4941770" cy="1583756"/>
          </a:xfrm>
        </p:spPr>
        <p:txBody>
          <a:bodyPr/>
          <a:lstStyle/>
          <a:p>
            <a:r>
              <a:rPr lang="en-US" dirty="0"/>
              <a:t>AEM ASSESSMENT</a:t>
            </a:r>
            <a:br>
              <a:rPr lang="en-US" dirty="0"/>
            </a:br>
            <a:r>
              <a:rPr lang="en-US" sz="2400" dirty="0"/>
              <a:t>QUALITY ASSURANCE POSITION</a:t>
            </a:r>
            <a:endParaRPr lang="en-US" dirty="0"/>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a:lstStyle/>
          <a:p>
            <a:r>
              <a:rPr lang="en-US" dirty="0"/>
              <a:t>YASMIN BINTI ISHAMIL</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6E6DF-FBD1-8DA8-BAD8-67E1080DBFAE}"/>
            </a:ext>
          </a:extLst>
        </p:cNvPr>
        <p:cNvGrpSpPr/>
        <p:nvPr/>
      </p:nvGrpSpPr>
      <p:grpSpPr>
        <a:xfrm>
          <a:off x="0" y="0"/>
          <a:ext cx="0" cy="0"/>
          <a:chOff x="0" y="0"/>
          <a:chExt cx="0" cy="0"/>
        </a:xfrm>
      </p:grpSpPr>
      <p:sp>
        <p:nvSpPr>
          <p:cNvPr id="82" name="Slide Number Placeholder 81">
            <a:extLst>
              <a:ext uri="{FF2B5EF4-FFF2-40B4-BE49-F238E27FC236}">
                <a16:creationId xmlns:a16="http://schemas.microsoft.com/office/drawing/2014/main" id="{2E841AB6-A36C-C800-6436-2B270DB1CEB3}"/>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2</a:t>
            </a:fld>
            <a:endParaRPr lang="en-US" dirty="0"/>
          </a:p>
        </p:txBody>
      </p:sp>
      <p:sp>
        <p:nvSpPr>
          <p:cNvPr id="5" name="Title 1">
            <a:extLst>
              <a:ext uri="{FF2B5EF4-FFF2-40B4-BE49-F238E27FC236}">
                <a16:creationId xmlns:a16="http://schemas.microsoft.com/office/drawing/2014/main" id="{FB4D29C5-A1F8-DB97-8233-BDBE6A55FA0C}"/>
              </a:ext>
              <a:ext uri="{C183D7F6-B498-43B3-948B-1728B52AA6E4}">
                <adec:decorative xmlns:adec="http://schemas.microsoft.com/office/drawing/2017/decorative" val="0"/>
              </a:ext>
            </a:extLst>
          </p:cNvPr>
          <p:cNvSpPr>
            <a:spLocks noGrp="1"/>
          </p:cNvSpPr>
          <p:nvPr>
            <p:ph type="title"/>
          </p:nvPr>
        </p:nvSpPr>
        <p:spPr>
          <a:xfrm>
            <a:off x="3718906" y="391885"/>
            <a:ext cx="4891694" cy="560751"/>
          </a:xfrm>
        </p:spPr>
        <p:txBody>
          <a:bodyPr>
            <a:normAutofit fontScale="90000"/>
          </a:bodyPr>
          <a:lstStyle/>
          <a:p>
            <a:r>
              <a:rPr lang="en-MY" b="1" dirty="0"/>
              <a:t>Q1: QA Role &amp; Importance:</a:t>
            </a:r>
            <a:endParaRPr lang="en-ZA" b="1" dirty="0"/>
          </a:p>
        </p:txBody>
      </p:sp>
      <p:sp>
        <p:nvSpPr>
          <p:cNvPr id="6" name="TextBox 5">
            <a:extLst>
              <a:ext uri="{FF2B5EF4-FFF2-40B4-BE49-F238E27FC236}">
                <a16:creationId xmlns:a16="http://schemas.microsoft.com/office/drawing/2014/main" id="{D17AD608-64FD-66F6-3F0C-F79F2218406F}"/>
              </a:ext>
            </a:extLst>
          </p:cNvPr>
          <p:cNvSpPr txBox="1"/>
          <p:nvPr/>
        </p:nvSpPr>
        <p:spPr>
          <a:xfrm>
            <a:off x="721771" y="1348236"/>
            <a:ext cx="10457858" cy="369332"/>
          </a:xfrm>
          <a:prstGeom prst="rect">
            <a:avLst/>
          </a:prstGeom>
          <a:noFill/>
        </p:spPr>
        <p:txBody>
          <a:bodyPr wrap="square">
            <a:spAutoFit/>
          </a:bodyPr>
          <a:lstStyle/>
          <a:p>
            <a:pPr marL="342900" indent="-342900">
              <a:buFont typeface="Arial" panose="020B0604020202020204" pitchFamily="34" charset="0"/>
              <a:buChar char="•"/>
            </a:pPr>
            <a:r>
              <a:rPr lang="en-MY" dirty="0"/>
              <a:t>What is the role of QA in the software development lifecycle (SDLC)?</a:t>
            </a:r>
            <a:endParaRPr lang="en-MY" sz="1200" dirty="0"/>
          </a:p>
        </p:txBody>
      </p:sp>
      <p:sp>
        <p:nvSpPr>
          <p:cNvPr id="7" name="TextBox 6">
            <a:extLst>
              <a:ext uri="{FF2B5EF4-FFF2-40B4-BE49-F238E27FC236}">
                <a16:creationId xmlns:a16="http://schemas.microsoft.com/office/drawing/2014/main" id="{9B9E091D-0170-0D6B-025E-EDAC1DD2B1D7}"/>
              </a:ext>
            </a:extLst>
          </p:cNvPr>
          <p:cNvSpPr txBox="1"/>
          <p:nvPr/>
        </p:nvSpPr>
        <p:spPr>
          <a:xfrm>
            <a:off x="721770" y="2923082"/>
            <a:ext cx="10457858" cy="646331"/>
          </a:xfrm>
          <a:prstGeom prst="rect">
            <a:avLst/>
          </a:prstGeom>
          <a:noFill/>
        </p:spPr>
        <p:txBody>
          <a:bodyPr wrap="square">
            <a:spAutoFit/>
          </a:bodyPr>
          <a:lstStyle/>
          <a:p>
            <a:pPr marL="342900" indent="-342900">
              <a:buFont typeface="Arial" panose="020B0604020202020204" pitchFamily="34" charset="0"/>
              <a:buChar char="•"/>
            </a:pPr>
            <a:r>
              <a:rPr lang="en-MY" dirty="0"/>
              <a:t>How does QA contribute to improving software quality and overall user experience? </a:t>
            </a:r>
            <a:br>
              <a:rPr lang="en-MY" dirty="0"/>
            </a:br>
            <a:r>
              <a:rPr lang="en-MY" dirty="0"/>
              <a:t>Does QA an essential part of an organization?</a:t>
            </a:r>
            <a:endParaRPr lang="en-MY" sz="1600" dirty="0"/>
          </a:p>
        </p:txBody>
      </p:sp>
      <p:sp>
        <p:nvSpPr>
          <p:cNvPr id="8" name="TextBox 7">
            <a:extLst>
              <a:ext uri="{FF2B5EF4-FFF2-40B4-BE49-F238E27FC236}">
                <a16:creationId xmlns:a16="http://schemas.microsoft.com/office/drawing/2014/main" id="{5FA5333C-D6FF-ACEA-CE9E-03BD35F7D9FF}"/>
              </a:ext>
            </a:extLst>
          </p:cNvPr>
          <p:cNvSpPr txBox="1"/>
          <p:nvPr/>
        </p:nvSpPr>
        <p:spPr>
          <a:xfrm>
            <a:off x="1066800" y="1792228"/>
            <a:ext cx="10112828" cy="646331"/>
          </a:xfrm>
          <a:prstGeom prst="rect">
            <a:avLst/>
          </a:prstGeom>
          <a:noFill/>
        </p:spPr>
        <p:txBody>
          <a:bodyPr wrap="square">
            <a:spAutoFit/>
          </a:bodyPr>
          <a:lstStyle/>
          <a:p>
            <a:pPr algn="just"/>
            <a:r>
              <a:rPr lang="en-MY" dirty="0">
                <a:solidFill>
                  <a:schemeClr val="accent5">
                    <a:lumMod val="75000"/>
                  </a:schemeClr>
                </a:solidFill>
              </a:rPr>
              <a:t>The role of a QA in SDLC is to ensure that the software meets client’s requirements, functions as expected and provides good user experience. </a:t>
            </a:r>
            <a:endParaRPr lang="en-MY" sz="1200" dirty="0">
              <a:solidFill>
                <a:schemeClr val="accent5">
                  <a:lumMod val="75000"/>
                </a:schemeClr>
              </a:solidFill>
            </a:endParaRPr>
          </a:p>
        </p:txBody>
      </p:sp>
      <p:sp>
        <p:nvSpPr>
          <p:cNvPr id="9" name="TextBox 8">
            <a:extLst>
              <a:ext uri="{FF2B5EF4-FFF2-40B4-BE49-F238E27FC236}">
                <a16:creationId xmlns:a16="http://schemas.microsoft.com/office/drawing/2014/main" id="{EEB5A31C-959E-0E44-4345-139A4923A946}"/>
              </a:ext>
            </a:extLst>
          </p:cNvPr>
          <p:cNvSpPr txBox="1"/>
          <p:nvPr/>
        </p:nvSpPr>
        <p:spPr>
          <a:xfrm>
            <a:off x="1066800" y="3652426"/>
            <a:ext cx="10112828" cy="2308324"/>
          </a:xfrm>
          <a:prstGeom prst="rect">
            <a:avLst/>
          </a:prstGeom>
          <a:noFill/>
        </p:spPr>
        <p:txBody>
          <a:bodyPr wrap="square">
            <a:spAutoFit/>
          </a:bodyPr>
          <a:lstStyle/>
          <a:p>
            <a:pPr algn="just"/>
            <a:r>
              <a:rPr lang="en-MY" dirty="0">
                <a:solidFill>
                  <a:schemeClr val="accent5">
                    <a:lumMod val="75000"/>
                  </a:schemeClr>
                </a:solidFill>
              </a:rPr>
              <a:t>QA contributes to improving the software quality and overall user experience with planning test/use cases so that the features meet client’s requirement, noticing the bugs/error, escalating it and verifying the fixes before it becomes a critical issue. Upgrades and patches of course comes hand-in-hand gradually over time.</a:t>
            </a:r>
          </a:p>
          <a:p>
            <a:pPr algn="just"/>
            <a:br>
              <a:rPr lang="en-MY" dirty="0">
                <a:solidFill>
                  <a:schemeClr val="accent5">
                    <a:lumMod val="75000"/>
                  </a:schemeClr>
                </a:solidFill>
              </a:rPr>
            </a:br>
            <a:r>
              <a:rPr lang="en-MY" dirty="0">
                <a:solidFill>
                  <a:schemeClr val="accent5">
                    <a:lumMod val="75000"/>
                  </a:schemeClr>
                </a:solidFill>
              </a:rPr>
              <a:t>Yes, QA is an important role in an organization. QA reduces the risk of releasing an unstable software which help prevent costly circumstances, maintain organization’s reputation &amp; provides support to R&amp;D department.</a:t>
            </a:r>
            <a:endParaRPr lang="en-MY" sz="1600" dirty="0">
              <a:solidFill>
                <a:schemeClr val="accent5">
                  <a:lumMod val="75000"/>
                </a:schemeClr>
              </a:solidFill>
            </a:endParaRPr>
          </a:p>
        </p:txBody>
      </p:sp>
    </p:spTree>
    <p:extLst>
      <p:ext uri="{BB962C8B-B14F-4D97-AF65-F5344CB8AC3E}">
        <p14:creationId xmlns:p14="http://schemas.microsoft.com/office/powerpoint/2010/main" val="572052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9BB169D8-81BD-D37E-B64F-63F42AD3A1B8}"/>
              </a:ext>
            </a:extLst>
          </p:cNvPr>
          <p:cNvSpPr>
            <a:spLocks noGrp="1"/>
          </p:cNvSpPr>
          <p:nvPr>
            <p:ph type="sldNum" sz="quarter" idx="12"/>
          </p:nvPr>
        </p:nvSpPr>
        <p:spPr/>
        <p:txBody>
          <a:bodyPr/>
          <a:lstStyle/>
          <a:p>
            <a:fld id="{B5CEABB6-07DC-46E8-9B57-56EC44A396E5}" type="slidenum">
              <a:rPr lang="en-US" smtClean="0"/>
              <a:t>3</a:t>
            </a:fld>
            <a:endParaRPr lang="en-US" dirty="0"/>
          </a:p>
        </p:txBody>
      </p:sp>
      <p:sp>
        <p:nvSpPr>
          <p:cNvPr id="16" name="Title 15">
            <a:extLst>
              <a:ext uri="{FF2B5EF4-FFF2-40B4-BE49-F238E27FC236}">
                <a16:creationId xmlns:a16="http://schemas.microsoft.com/office/drawing/2014/main" id="{F694CC88-B596-07A0-20F1-C8467F3DD8D5}"/>
              </a:ext>
            </a:extLst>
          </p:cNvPr>
          <p:cNvSpPr>
            <a:spLocks noGrp="1"/>
          </p:cNvSpPr>
          <p:nvPr>
            <p:ph type="title"/>
          </p:nvPr>
        </p:nvSpPr>
        <p:spPr>
          <a:xfrm>
            <a:off x="1981200" y="445863"/>
            <a:ext cx="8421688" cy="642709"/>
          </a:xfrm>
        </p:spPr>
        <p:txBody>
          <a:bodyPr>
            <a:normAutofit/>
          </a:bodyPr>
          <a:lstStyle/>
          <a:p>
            <a:r>
              <a:rPr lang="en-MY" sz="2500" b="1" dirty="0"/>
              <a:t>Q2: QA Testing Processes &amp; Methodologies:</a:t>
            </a:r>
          </a:p>
        </p:txBody>
      </p:sp>
      <p:sp>
        <p:nvSpPr>
          <p:cNvPr id="18" name="TextBox 17">
            <a:extLst>
              <a:ext uri="{FF2B5EF4-FFF2-40B4-BE49-F238E27FC236}">
                <a16:creationId xmlns:a16="http://schemas.microsoft.com/office/drawing/2014/main" id="{F1B7BA35-E556-F2C1-1A22-301061AB5B3D}"/>
              </a:ext>
            </a:extLst>
          </p:cNvPr>
          <p:cNvSpPr txBox="1"/>
          <p:nvPr/>
        </p:nvSpPr>
        <p:spPr>
          <a:xfrm>
            <a:off x="1121228" y="1166336"/>
            <a:ext cx="8556171" cy="369332"/>
          </a:xfrm>
          <a:prstGeom prst="rect">
            <a:avLst/>
          </a:prstGeom>
          <a:noFill/>
        </p:spPr>
        <p:txBody>
          <a:bodyPr wrap="square">
            <a:spAutoFit/>
          </a:bodyPr>
          <a:lstStyle/>
          <a:p>
            <a:pPr marL="342900" lvl="0" indent="-342900">
              <a:buFont typeface="Arial" panose="020B0604020202020204" pitchFamily="34" charset="0"/>
              <a:buChar char="•"/>
            </a:pPr>
            <a:r>
              <a:rPr lang="en-MY" dirty="0"/>
              <a:t>Understanding the QA Testing Life Cycle.</a:t>
            </a:r>
          </a:p>
        </p:txBody>
      </p:sp>
      <p:sp>
        <p:nvSpPr>
          <p:cNvPr id="20" name="TextBox 19">
            <a:extLst>
              <a:ext uri="{FF2B5EF4-FFF2-40B4-BE49-F238E27FC236}">
                <a16:creationId xmlns:a16="http://schemas.microsoft.com/office/drawing/2014/main" id="{BC2390B6-BDC3-676D-46DB-E712C08A51A7}"/>
              </a:ext>
            </a:extLst>
          </p:cNvPr>
          <p:cNvSpPr txBox="1"/>
          <p:nvPr/>
        </p:nvSpPr>
        <p:spPr>
          <a:xfrm>
            <a:off x="1132122" y="2336682"/>
            <a:ext cx="9564688" cy="646331"/>
          </a:xfrm>
          <a:prstGeom prst="rect">
            <a:avLst/>
          </a:prstGeom>
          <a:noFill/>
        </p:spPr>
        <p:txBody>
          <a:bodyPr wrap="square">
            <a:spAutoFit/>
          </a:bodyPr>
          <a:lstStyle/>
          <a:p>
            <a:pPr marL="342900" lvl="0" indent="-342900">
              <a:buFont typeface="Arial" panose="020B0604020202020204" pitchFamily="34" charset="0"/>
              <a:buChar char="•"/>
            </a:pPr>
            <a:r>
              <a:rPr lang="en-MY" dirty="0"/>
              <a:t>Best practices for writing test cases and test plans, difference between manual testing and automated testing—when to use each.</a:t>
            </a:r>
          </a:p>
        </p:txBody>
      </p:sp>
      <p:sp>
        <p:nvSpPr>
          <p:cNvPr id="24" name="TextBox 23">
            <a:extLst>
              <a:ext uri="{FF2B5EF4-FFF2-40B4-BE49-F238E27FC236}">
                <a16:creationId xmlns:a16="http://schemas.microsoft.com/office/drawing/2014/main" id="{1D16DAAB-987C-A220-3901-B7773A8ED7FA}"/>
              </a:ext>
            </a:extLst>
          </p:cNvPr>
          <p:cNvSpPr txBox="1"/>
          <p:nvPr/>
        </p:nvSpPr>
        <p:spPr>
          <a:xfrm>
            <a:off x="1469580" y="1551551"/>
            <a:ext cx="9249000" cy="646331"/>
          </a:xfrm>
          <a:prstGeom prst="rect">
            <a:avLst/>
          </a:prstGeom>
          <a:noFill/>
        </p:spPr>
        <p:txBody>
          <a:bodyPr wrap="square">
            <a:spAutoFit/>
          </a:bodyPr>
          <a:lstStyle/>
          <a:p>
            <a:pPr lvl="0" algn="just"/>
            <a:r>
              <a:rPr lang="en-MY" dirty="0">
                <a:solidFill>
                  <a:schemeClr val="accent5">
                    <a:lumMod val="75000"/>
                  </a:schemeClr>
                </a:solidFill>
              </a:rPr>
              <a:t>QA Life Cycle consist of 6 phases, starting with the requirement, planning tests, test cases, testing required environment, test execution and test conclusion/closure.</a:t>
            </a:r>
          </a:p>
        </p:txBody>
      </p:sp>
      <p:sp>
        <p:nvSpPr>
          <p:cNvPr id="26" name="TextBox 25">
            <a:extLst>
              <a:ext uri="{FF2B5EF4-FFF2-40B4-BE49-F238E27FC236}">
                <a16:creationId xmlns:a16="http://schemas.microsoft.com/office/drawing/2014/main" id="{0D3577C6-A407-68B9-D5B6-7162C8828969}"/>
              </a:ext>
            </a:extLst>
          </p:cNvPr>
          <p:cNvSpPr txBox="1"/>
          <p:nvPr/>
        </p:nvSpPr>
        <p:spPr>
          <a:xfrm>
            <a:off x="1480466" y="3093577"/>
            <a:ext cx="9249000" cy="3139321"/>
          </a:xfrm>
          <a:prstGeom prst="rect">
            <a:avLst/>
          </a:prstGeom>
          <a:noFill/>
        </p:spPr>
        <p:txBody>
          <a:bodyPr wrap="square">
            <a:spAutoFit/>
          </a:bodyPr>
          <a:lstStyle/>
          <a:p>
            <a:pPr lvl="0" algn="just"/>
            <a:r>
              <a:rPr lang="en-MY" dirty="0">
                <a:solidFill>
                  <a:schemeClr val="accent5">
                    <a:lumMod val="75000"/>
                  </a:schemeClr>
                </a:solidFill>
              </a:rPr>
              <a:t>In my understanding, the best practice for writing test cases is when gauging a feature’s functionality in the software such as testing the login page, the credentials and many more. While the best case for writing test plans, is when discussing the QA’s approach/flow of the project such as the objective, scope and test approach towards the project.</a:t>
            </a:r>
          </a:p>
          <a:p>
            <a:pPr lvl="0" algn="just"/>
            <a:endParaRPr lang="en-MY" dirty="0">
              <a:solidFill>
                <a:schemeClr val="accent5">
                  <a:lumMod val="75000"/>
                </a:schemeClr>
              </a:solidFill>
            </a:endParaRPr>
          </a:p>
          <a:p>
            <a:pPr lvl="0" algn="just"/>
            <a:r>
              <a:rPr lang="en-MY" dirty="0">
                <a:solidFill>
                  <a:schemeClr val="accent5">
                    <a:lumMod val="75000"/>
                  </a:schemeClr>
                </a:solidFill>
              </a:rPr>
              <a:t>Manual testing means to use human judgement as a testing medium. It’s best used when a feature/functionality changes frequently and during visual judgements/aesthetic of the software.</a:t>
            </a:r>
          </a:p>
          <a:p>
            <a:pPr lvl="0" algn="just"/>
            <a:endParaRPr lang="en-MY" dirty="0">
              <a:solidFill>
                <a:schemeClr val="accent5">
                  <a:lumMod val="75000"/>
                </a:schemeClr>
              </a:solidFill>
            </a:endParaRPr>
          </a:p>
          <a:p>
            <a:pPr lvl="0" algn="just"/>
            <a:r>
              <a:rPr lang="en-MY" dirty="0">
                <a:solidFill>
                  <a:schemeClr val="accent5">
                    <a:lumMod val="75000"/>
                  </a:schemeClr>
                </a:solidFill>
              </a:rPr>
              <a:t>Automated testing means using scripting tools as a medium for judgement. It’s best used for repetitive and a large-scale testing.</a:t>
            </a:r>
          </a:p>
        </p:txBody>
      </p:sp>
    </p:spTree>
    <p:extLst>
      <p:ext uri="{BB962C8B-B14F-4D97-AF65-F5344CB8AC3E}">
        <p14:creationId xmlns:p14="http://schemas.microsoft.com/office/powerpoint/2010/main" val="2000909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E7B8A-23AA-AF12-1E80-999074CEE0F3}"/>
            </a:ext>
          </a:extLst>
        </p:cNvPr>
        <p:cNvGrpSpPr/>
        <p:nvPr/>
      </p:nvGrpSpPr>
      <p:grpSpPr>
        <a:xfrm>
          <a:off x="0" y="0"/>
          <a:ext cx="0" cy="0"/>
          <a:chOff x="0" y="0"/>
          <a:chExt cx="0" cy="0"/>
        </a:xfrm>
      </p:grpSpPr>
      <p:sp>
        <p:nvSpPr>
          <p:cNvPr id="82" name="Slide Number Placeholder 81">
            <a:extLst>
              <a:ext uri="{FF2B5EF4-FFF2-40B4-BE49-F238E27FC236}">
                <a16:creationId xmlns:a16="http://schemas.microsoft.com/office/drawing/2014/main" id="{146B79F2-38DB-B4E8-5AFA-9EFE0FCD1363}"/>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
        <p:nvSpPr>
          <p:cNvPr id="5" name="Title 15">
            <a:extLst>
              <a:ext uri="{FF2B5EF4-FFF2-40B4-BE49-F238E27FC236}">
                <a16:creationId xmlns:a16="http://schemas.microsoft.com/office/drawing/2014/main" id="{C7139EBE-C68D-3453-E96A-D1B489CA0D0F}"/>
              </a:ext>
            </a:extLst>
          </p:cNvPr>
          <p:cNvSpPr>
            <a:spLocks noGrp="1"/>
          </p:cNvSpPr>
          <p:nvPr>
            <p:ph type="title"/>
          </p:nvPr>
        </p:nvSpPr>
        <p:spPr>
          <a:xfrm>
            <a:off x="1981200" y="445863"/>
            <a:ext cx="8421688" cy="642709"/>
          </a:xfrm>
        </p:spPr>
        <p:txBody>
          <a:bodyPr>
            <a:normAutofit/>
          </a:bodyPr>
          <a:lstStyle/>
          <a:p>
            <a:r>
              <a:rPr lang="en-MY" sz="2500" b="1" dirty="0"/>
              <a:t>Q2: QA Testing Processes &amp; Methodologies:</a:t>
            </a:r>
          </a:p>
        </p:txBody>
      </p:sp>
      <p:sp>
        <p:nvSpPr>
          <p:cNvPr id="7" name="TextBox 6">
            <a:extLst>
              <a:ext uri="{FF2B5EF4-FFF2-40B4-BE49-F238E27FC236}">
                <a16:creationId xmlns:a16="http://schemas.microsoft.com/office/drawing/2014/main" id="{BAC55611-D5F8-30CB-B4D1-C8CB49436139}"/>
              </a:ext>
            </a:extLst>
          </p:cNvPr>
          <p:cNvSpPr txBox="1"/>
          <p:nvPr/>
        </p:nvSpPr>
        <p:spPr>
          <a:xfrm>
            <a:off x="1284514" y="1153888"/>
            <a:ext cx="6096000" cy="369332"/>
          </a:xfrm>
          <a:prstGeom prst="rect">
            <a:avLst/>
          </a:prstGeom>
          <a:noFill/>
        </p:spPr>
        <p:txBody>
          <a:bodyPr wrap="square">
            <a:spAutoFit/>
          </a:bodyPr>
          <a:lstStyle/>
          <a:p>
            <a:pPr marL="342900" lvl="0" indent="-342900">
              <a:buFont typeface="Arial" panose="020B0604020202020204" pitchFamily="34" charset="0"/>
              <a:buChar char="•"/>
            </a:pPr>
            <a:r>
              <a:rPr lang="en-MY" dirty="0"/>
              <a:t>Provide types of testing.</a:t>
            </a:r>
          </a:p>
        </p:txBody>
      </p:sp>
      <p:sp>
        <p:nvSpPr>
          <p:cNvPr id="9" name="TextBox 8">
            <a:extLst>
              <a:ext uri="{FF2B5EF4-FFF2-40B4-BE49-F238E27FC236}">
                <a16:creationId xmlns:a16="http://schemas.microsoft.com/office/drawing/2014/main" id="{34B6D759-4667-BAF6-1540-748576CA71B7}"/>
              </a:ext>
            </a:extLst>
          </p:cNvPr>
          <p:cNvSpPr txBox="1"/>
          <p:nvPr/>
        </p:nvSpPr>
        <p:spPr>
          <a:xfrm>
            <a:off x="1621971" y="1551551"/>
            <a:ext cx="9249000" cy="1200329"/>
          </a:xfrm>
          <a:prstGeom prst="rect">
            <a:avLst/>
          </a:prstGeom>
          <a:noFill/>
        </p:spPr>
        <p:txBody>
          <a:bodyPr wrap="square">
            <a:spAutoFit/>
          </a:bodyPr>
          <a:lstStyle/>
          <a:p>
            <a:pPr lvl="0" algn="just"/>
            <a:r>
              <a:rPr lang="en-US" dirty="0">
                <a:solidFill>
                  <a:schemeClr val="accent5">
                    <a:lumMod val="75000"/>
                  </a:schemeClr>
                </a:solidFill>
              </a:rPr>
              <a:t>T</a:t>
            </a:r>
            <a:r>
              <a:rPr lang="en-MY" dirty="0">
                <a:solidFill>
                  <a:schemeClr val="accent5">
                    <a:lumMod val="75000"/>
                  </a:schemeClr>
                </a:solidFill>
              </a:rPr>
              <a:t>here are 4 categories of testing; functional which test whether feature works as required, non-functional to observe how well the software performs, testing based on purpose intended is to check whether a specific functions works as intended and testing based on execution method is telling how the tests works rather than evaluation.</a:t>
            </a:r>
          </a:p>
        </p:txBody>
      </p:sp>
    </p:spTree>
    <p:extLst>
      <p:ext uri="{BB962C8B-B14F-4D97-AF65-F5344CB8AC3E}">
        <p14:creationId xmlns:p14="http://schemas.microsoft.com/office/powerpoint/2010/main" val="135823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609145"/>
            <a:ext cx="8421688" cy="566509"/>
          </a:xfrm>
        </p:spPr>
        <p:txBody>
          <a:bodyPr>
            <a:normAutofit/>
          </a:bodyPr>
          <a:lstStyle/>
          <a:p>
            <a:r>
              <a:rPr lang="en-MY" sz="2500" b="1" dirty="0"/>
              <a:t>Q3: Automation Testing:</a:t>
            </a:r>
            <a:endParaRPr lang="en-US" sz="2500" b="1" dirty="0"/>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421666"/>
            <a:ext cx="2743200" cy="365125"/>
          </a:xfrm>
        </p:spPr>
        <p:txBody>
          <a:bodyPr/>
          <a:lstStyle/>
          <a:p>
            <a:fld id="{B5CEABB6-07DC-46E8-9B57-56EC44A396E5}" type="slidenum">
              <a:rPr lang="en-US" smtClean="0"/>
              <a:pPr/>
              <a:t>5</a:t>
            </a:fld>
            <a:endParaRPr lang="en-US" dirty="0"/>
          </a:p>
        </p:txBody>
      </p:sp>
      <p:sp>
        <p:nvSpPr>
          <p:cNvPr id="28" name="TextBox 27">
            <a:extLst>
              <a:ext uri="{FF2B5EF4-FFF2-40B4-BE49-F238E27FC236}">
                <a16:creationId xmlns:a16="http://schemas.microsoft.com/office/drawing/2014/main" id="{BF49BC5C-E614-0436-F573-61D4DB625753}"/>
              </a:ext>
            </a:extLst>
          </p:cNvPr>
          <p:cNvSpPr txBox="1"/>
          <p:nvPr/>
        </p:nvSpPr>
        <p:spPr>
          <a:xfrm>
            <a:off x="1164771" y="1110338"/>
            <a:ext cx="9571093" cy="369332"/>
          </a:xfrm>
          <a:prstGeom prst="rect">
            <a:avLst/>
          </a:prstGeom>
          <a:noFill/>
        </p:spPr>
        <p:txBody>
          <a:bodyPr wrap="square">
            <a:spAutoFit/>
          </a:bodyPr>
          <a:lstStyle/>
          <a:p>
            <a:pPr marL="342900" lvl="0" indent="-342900">
              <a:buFont typeface="Arial" panose="020B0604020202020204" pitchFamily="34" charset="0"/>
              <a:buChar char="•"/>
            </a:pPr>
            <a:r>
              <a:rPr lang="en-MY" dirty="0"/>
              <a:t>What is automation testing, and why is it important?</a:t>
            </a:r>
          </a:p>
        </p:txBody>
      </p:sp>
      <p:sp>
        <p:nvSpPr>
          <p:cNvPr id="30" name="TextBox 29">
            <a:extLst>
              <a:ext uri="{FF2B5EF4-FFF2-40B4-BE49-F238E27FC236}">
                <a16:creationId xmlns:a16="http://schemas.microsoft.com/office/drawing/2014/main" id="{F60D5288-F1BD-2D46-3F2C-555EBB09356B}"/>
              </a:ext>
            </a:extLst>
          </p:cNvPr>
          <p:cNvSpPr txBox="1"/>
          <p:nvPr/>
        </p:nvSpPr>
        <p:spPr>
          <a:xfrm>
            <a:off x="1164771" y="2485343"/>
            <a:ext cx="9795215" cy="646331"/>
          </a:xfrm>
          <a:prstGeom prst="rect">
            <a:avLst/>
          </a:prstGeom>
          <a:noFill/>
        </p:spPr>
        <p:txBody>
          <a:bodyPr wrap="square">
            <a:spAutoFit/>
          </a:bodyPr>
          <a:lstStyle/>
          <a:p>
            <a:pPr marL="342900" lvl="0" indent="-342900">
              <a:buFont typeface="Arial" panose="020B0604020202020204" pitchFamily="34" charset="0"/>
              <a:buChar char="•"/>
            </a:pPr>
            <a:r>
              <a:rPr lang="en-MY" sz="1800" dirty="0"/>
              <a:t>How to design and maintain automated test scripts for regression testing and enhancement testing?</a:t>
            </a:r>
          </a:p>
        </p:txBody>
      </p:sp>
      <p:sp>
        <p:nvSpPr>
          <p:cNvPr id="32" name="TextBox 31">
            <a:extLst>
              <a:ext uri="{FF2B5EF4-FFF2-40B4-BE49-F238E27FC236}">
                <a16:creationId xmlns:a16="http://schemas.microsoft.com/office/drawing/2014/main" id="{6D970263-6920-B969-CAE8-32EE8D0E82D7}"/>
              </a:ext>
            </a:extLst>
          </p:cNvPr>
          <p:cNvSpPr txBox="1"/>
          <p:nvPr/>
        </p:nvSpPr>
        <p:spPr>
          <a:xfrm>
            <a:off x="1164771" y="4975553"/>
            <a:ext cx="9697244" cy="369332"/>
          </a:xfrm>
          <a:prstGeom prst="rect">
            <a:avLst/>
          </a:prstGeom>
          <a:noFill/>
        </p:spPr>
        <p:txBody>
          <a:bodyPr wrap="square">
            <a:spAutoFit/>
          </a:bodyPr>
          <a:lstStyle/>
          <a:p>
            <a:pPr marL="342900" lvl="0" indent="-342900">
              <a:buFont typeface="Arial" panose="020B0604020202020204" pitchFamily="34" charset="0"/>
              <a:buChar char="•"/>
            </a:pPr>
            <a:r>
              <a:rPr lang="en-MY" sz="1800" dirty="0"/>
              <a:t>Describe role of automation in CI/CD pipelines.</a:t>
            </a:r>
          </a:p>
        </p:txBody>
      </p:sp>
      <p:sp>
        <p:nvSpPr>
          <p:cNvPr id="34" name="TextBox 33">
            <a:extLst>
              <a:ext uri="{FF2B5EF4-FFF2-40B4-BE49-F238E27FC236}">
                <a16:creationId xmlns:a16="http://schemas.microsoft.com/office/drawing/2014/main" id="{DA954367-E752-37A0-6F5A-259E02F805D3}"/>
              </a:ext>
            </a:extLst>
          </p:cNvPr>
          <p:cNvSpPr txBox="1"/>
          <p:nvPr/>
        </p:nvSpPr>
        <p:spPr>
          <a:xfrm>
            <a:off x="1486864" y="1468784"/>
            <a:ext cx="9249000" cy="923330"/>
          </a:xfrm>
          <a:prstGeom prst="rect">
            <a:avLst/>
          </a:prstGeom>
          <a:noFill/>
        </p:spPr>
        <p:txBody>
          <a:bodyPr wrap="square">
            <a:spAutoFit/>
          </a:bodyPr>
          <a:lstStyle/>
          <a:p>
            <a:pPr lvl="0" algn="just"/>
            <a:r>
              <a:rPr lang="en-US" dirty="0">
                <a:solidFill>
                  <a:schemeClr val="accent5">
                    <a:lumMod val="75000"/>
                  </a:schemeClr>
                </a:solidFill>
              </a:rPr>
              <a:t>Automation testing is a testing method executed for checking by scripts or tools. It is important or useful during a large-scale load performance testing or testing that needs repetitive checks.  </a:t>
            </a:r>
            <a:endParaRPr lang="en-MY" dirty="0">
              <a:solidFill>
                <a:schemeClr val="accent5">
                  <a:lumMod val="75000"/>
                </a:schemeClr>
              </a:solidFill>
            </a:endParaRPr>
          </a:p>
        </p:txBody>
      </p:sp>
      <p:sp>
        <p:nvSpPr>
          <p:cNvPr id="36" name="TextBox 35">
            <a:extLst>
              <a:ext uri="{FF2B5EF4-FFF2-40B4-BE49-F238E27FC236}">
                <a16:creationId xmlns:a16="http://schemas.microsoft.com/office/drawing/2014/main" id="{642BE2B5-C9E5-32CC-C40D-EC36E8E90881}"/>
              </a:ext>
            </a:extLst>
          </p:cNvPr>
          <p:cNvSpPr txBox="1"/>
          <p:nvPr/>
        </p:nvSpPr>
        <p:spPr>
          <a:xfrm>
            <a:off x="1486864" y="3145968"/>
            <a:ext cx="9249000" cy="1754326"/>
          </a:xfrm>
          <a:prstGeom prst="rect">
            <a:avLst/>
          </a:prstGeom>
          <a:noFill/>
        </p:spPr>
        <p:txBody>
          <a:bodyPr wrap="square">
            <a:spAutoFit/>
          </a:bodyPr>
          <a:lstStyle/>
          <a:p>
            <a:pPr lvl="0" algn="just"/>
            <a:r>
              <a:rPr lang="en-US" dirty="0">
                <a:solidFill>
                  <a:schemeClr val="accent5">
                    <a:lumMod val="75000"/>
                  </a:schemeClr>
                </a:solidFill>
              </a:rPr>
              <a:t>Every design needs a template or an SOP, to design test scripts for regression and enhancement testing, we will need to first identify what needs to be tested, preparing test cases, using the right automation tool and write reusable/versatile scripts for future testing.</a:t>
            </a:r>
          </a:p>
          <a:p>
            <a:pPr lvl="0" algn="just"/>
            <a:r>
              <a:rPr lang="en-US" dirty="0">
                <a:solidFill>
                  <a:schemeClr val="accent5">
                    <a:lumMod val="75000"/>
                  </a:schemeClr>
                </a:solidFill>
              </a:rPr>
              <a:t>To maintain automated test scripts, we will need to update scripts according to requirement changes, check on environment stability or any outdated features and remove any obsolete features to ensure that the scripts are relevant to current trends. </a:t>
            </a:r>
            <a:endParaRPr lang="en-MY" dirty="0">
              <a:solidFill>
                <a:schemeClr val="accent5">
                  <a:lumMod val="75000"/>
                </a:schemeClr>
              </a:solidFill>
            </a:endParaRPr>
          </a:p>
        </p:txBody>
      </p:sp>
      <p:sp>
        <p:nvSpPr>
          <p:cNvPr id="38" name="TextBox 37">
            <a:extLst>
              <a:ext uri="{FF2B5EF4-FFF2-40B4-BE49-F238E27FC236}">
                <a16:creationId xmlns:a16="http://schemas.microsoft.com/office/drawing/2014/main" id="{EFA0A008-DD26-19D5-09F0-4C08669DC248}"/>
              </a:ext>
            </a:extLst>
          </p:cNvPr>
          <p:cNvSpPr txBox="1"/>
          <p:nvPr/>
        </p:nvSpPr>
        <p:spPr>
          <a:xfrm>
            <a:off x="1486864" y="5388184"/>
            <a:ext cx="9249000" cy="923330"/>
          </a:xfrm>
          <a:prstGeom prst="rect">
            <a:avLst/>
          </a:prstGeom>
          <a:noFill/>
        </p:spPr>
        <p:txBody>
          <a:bodyPr wrap="square">
            <a:spAutoFit/>
          </a:bodyPr>
          <a:lstStyle/>
          <a:p>
            <a:pPr lvl="0" algn="just"/>
            <a:r>
              <a:rPr lang="en-US" dirty="0">
                <a:solidFill>
                  <a:schemeClr val="accent5">
                    <a:lumMod val="75000"/>
                  </a:schemeClr>
                </a:solidFill>
              </a:rPr>
              <a:t>Automation in CI/CD pipelines helps software to be built, tested and deployed with minimal human intervention. Automated test can run to check submitted codes which allows us to detect error/failures early without having to wait for the end of the development.</a:t>
            </a:r>
            <a:endParaRPr lang="en-MY" dirty="0">
              <a:solidFill>
                <a:schemeClr val="accent5">
                  <a:lumMod val="75000"/>
                </a:schemeClr>
              </a:solidFill>
            </a:endParaRPr>
          </a:p>
        </p:txBody>
      </p:sp>
    </p:spTree>
    <p:extLst>
      <p:ext uri="{BB962C8B-B14F-4D97-AF65-F5344CB8AC3E}">
        <p14:creationId xmlns:p14="http://schemas.microsoft.com/office/powerpoint/2010/main" val="159392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3E52-2F1D-B64D-7E54-43AFE3470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E601F-9692-3499-90F8-528563A046B1}"/>
              </a:ext>
              <a:ext uri="{C183D7F6-B498-43B3-948B-1728B52AA6E4}">
                <adec:decorative xmlns:adec="http://schemas.microsoft.com/office/drawing/2017/decorative" val="0"/>
              </a:ext>
            </a:extLst>
          </p:cNvPr>
          <p:cNvSpPr>
            <a:spLocks noGrp="1"/>
          </p:cNvSpPr>
          <p:nvPr>
            <p:ph type="title"/>
          </p:nvPr>
        </p:nvSpPr>
        <p:spPr>
          <a:xfrm>
            <a:off x="3718906" y="391885"/>
            <a:ext cx="4622349" cy="560751"/>
          </a:xfrm>
        </p:spPr>
        <p:txBody>
          <a:bodyPr>
            <a:normAutofit fontScale="90000"/>
          </a:bodyPr>
          <a:lstStyle/>
          <a:p>
            <a:r>
              <a:rPr lang="en-MY" sz="2500" b="1" dirty="0"/>
              <a:t>Q4: Performance Testing:</a:t>
            </a:r>
            <a:endParaRPr lang="en-ZA" sz="2500" b="1" dirty="0"/>
          </a:p>
        </p:txBody>
      </p:sp>
      <p:sp>
        <p:nvSpPr>
          <p:cNvPr id="4" name="Slide Number Placeholder 3">
            <a:extLst>
              <a:ext uri="{FF2B5EF4-FFF2-40B4-BE49-F238E27FC236}">
                <a16:creationId xmlns:a16="http://schemas.microsoft.com/office/drawing/2014/main" id="{8ADA4670-3B96-15B1-E393-31503975F1FE}"/>
              </a:ext>
            </a:extLst>
          </p:cNvPr>
          <p:cNvSpPr>
            <a:spLocks noGrp="1"/>
          </p:cNvSpPr>
          <p:nvPr>
            <p:ph type="sldNum" sz="quarter" idx="12"/>
          </p:nvPr>
        </p:nvSpPr>
        <p:spPr>
          <a:xfrm>
            <a:off x="5536305" y="6356350"/>
            <a:ext cx="987552" cy="365125"/>
          </a:xfrm>
        </p:spPr>
        <p:txBody>
          <a:bodyPr/>
          <a:lstStyle/>
          <a:p>
            <a:fld id="{19B51A1E-902D-48AF-9020-955120F399B6}" type="slidenum">
              <a:rPr lang="en-ZA" smtClean="0"/>
              <a:pPr/>
              <a:t>6</a:t>
            </a:fld>
            <a:endParaRPr lang="en-ZA" dirty="0"/>
          </a:p>
        </p:txBody>
      </p:sp>
      <p:sp>
        <p:nvSpPr>
          <p:cNvPr id="7" name="TextBox 6">
            <a:extLst>
              <a:ext uri="{FF2B5EF4-FFF2-40B4-BE49-F238E27FC236}">
                <a16:creationId xmlns:a16="http://schemas.microsoft.com/office/drawing/2014/main" id="{DB9850D3-7EE7-78E8-C11B-2BB6A2D4C8FD}"/>
              </a:ext>
            </a:extLst>
          </p:cNvPr>
          <p:cNvSpPr txBox="1"/>
          <p:nvPr/>
        </p:nvSpPr>
        <p:spPr>
          <a:xfrm>
            <a:off x="1406373" y="985463"/>
            <a:ext cx="9247414" cy="369332"/>
          </a:xfrm>
          <a:prstGeom prst="rect">
            <a:avLst/>
          </a:prstGeom>
          <a:noFill/>
        </p:spPr>
        <p:txBody>
          <a:bodyPr wrap="square">
            <a:spAutoFit/>
          </a:bodyPr>
          <a:lstStyle/>
          <a:p>
            <a:pPr marL="342900" lvl="0" indent="-342900">
              <a:buFont typeface="Arial" panose="020B0604020202020204" pitchFamily="34" charset="0"/>
              <a:buChar char="•"/>
            </a:pPr>
            <a:r>
              <a:rPr lang="en-MY" dirty="0"/>
              <a:t>What is performance testing, and is it essential for a system/application?</a:t>
            </a:r>
          </a:p>
        </p:txBody>
      </p:sp>
      <p:sp>
        <p:nvSpPr>
          <p:cNvPr id="9" name="TextBox 8">
            <a:extLst>
              <a:ext uri="{FF2B5EF4-FFF2-40B4-BE49-F238E27FC236}">
                <a16:creationId xmlns:a16="http://schemas.microsoft.com/office/drawing/2014/main" id="{A6BE58E9-97CA-DBB2-C0B2-D1429CE618CF}"/>
              </a:ext>
            </a:extLst>
          </p:cNvPr>
          <p:cNvSpPr txBox="1"/>
          <p:nvPr/>
        </p:nvSpPr>
        <p:spPr>
          <a:xfrm>
            <a:off x="1406373" y="2605090"/>
            <a:ext cx="7737627" cy="369332"/>
          </a:xfrm>
          <a:prstGeom prst="rect">
            <a:avLst/>
          </a:prstGeom>
          <a:noFill/>
        </p:spPr>
        <p:txBody>
          <a:bodyPr wrap="square">
            <a:spAutoFit/>
          </a:bodyPr>
          <a:lstStyle/>
          <a:p>
            <a:pPr marL="342900" lvl="0" indent="-342900">
              <a:buFont typeface="Arial" panose="020B0604020202020204" pitchFamily="34" charset="0"/>
              <a:buChar char="•"/>
            </a:pPr>
            <a:r>
              <a:rPr lang="en-MY" sz="1800" dirty="0"/>
              <a:t>List types of performance testing – purpose and use case.</a:t>
            </a:r>
          </a:p>
        </p:txBody>
      </p:sp>
      <p:sp>
        <p:nvSpPr>
          <p:cNvPr id="13" name="TextBox 12">
            <a:extLst>
              <a:ext uri="{FF2B5EF4-FFF2-40B4-BE49-F238E27FC236}">
                <a16:creationId xmlns:a16="http://schemas.microsoft.com/office/drawing/2014/main" id="{C1B4E26D-BC76-E262-074E-0AEE94739BEE}"/>
              </a:ext>
            </a:extLst>
          </p:cNvPr>
          <p:cNvSpPr txBox="1"/>
          <p:nvPr/>
        </p:nvSpPr>
        <p:spPr>
          <a:xfrm>
            <a:off x="1726351" y="1333023"/>
            <a:ext cx="8495335" cy="1200329"/>
          </a:xfrm>
          <a:prstGeom prst="rect">
            <a:avLst/>
          </a:prstGeom>
          <a:noFill/>
        </p:spPr>
        <p:txBody>
          <a:bodyPr wrap="square">
            <a:spAutoFit/>
          </a:bodyPr>
          <a:lstStyle/>
          <a:p>
            <a:pPr lvl="0" algn="just"/>
            <a:r>
              <a:rPr lang="en-US" dirty="0">
                <a:solidFill>
                  <a:schemeClr val="accent5">
                    <a:lumMod val="75000"/>
                  </a:schemeClr>
                </a:solidFill>
              </a:rPr>
              <a:t>Performance testing is a non-functional testing that helps evaluates a system’s stability, responsiveness and reliability under different workloads. </a:t>
            </a:r>
          </a:p>
          <a:p>
            <a:pPr lvl="0" algn="just"/>
            <a:r>
              <a:rPr lang="en-US" dirty="0">
                <a:solidFill>
                  <a:schemeClr val="accent5">
                    <a:lumMod val="75000"/>
                  </a:schemeClr>
                </a:solidFill>
              </a:rPr>
              <a:t>Yes, performance testing are useful for many applications, but it also depends on the applications needs and requirements. </a:t>
            </a:r>
            <a:endParaRPr lang="en-MY" dirty="0">
              <a:solidFill>
                <a:schemeClr val="accent5">
                  <a:lumMod val="75000"/>
                </a:schemeClr>
              </a:solidFill>
            </a:endParaRPr>
          </a:p>
        </p:txBody>
      </p:sp>
      <p:sp>
        <p:nvSpPr>
          <p:cNvPr id="15" name="TextBox 14">
            <a:extLst>
              <a:ext uri="{FF2B5EF4-FFF2-40B4-BE49-F238E27FC236}">
                <a16:creationId xmlns:a16="http://schemas.microsoft.com/office/drawing/2014/main" id="{F8BB83E9-77FF-C001-B131-C5956DC37504}"/>
              </a:ext>
            </a:extLst>
          </p:cNvPr>
          <p:cNvSpPr txBox="1"/>
          <p:nvPr/>
        </p:nvSpPr>
        <p:spPr>
          <a:xfrm>
            <a:off x="1715464" y="2968507"/>
            <a:ext cx="8927437" cy="3693319"/>
          </a:xfrm>
          <a:prstGeom prst="rect">
            <a:avLst/>
          </a:prstGeom>
          <a:noFill/>
        </p:spPr>
        <p:txBody>
          <a:bodyPr wrap="square">
            <a:spAutoFit/>
          </a:bodyPr>
          <a:lstStyle/>
          <a:p>
            <a:pPr lvl="0" algn="just"/>
            <a:r>
              <a:rPr lang="en-US" dirty="0">
                <a:solidFill>
                  <a:schemeClr val="accent5">
                    <a:lumMod val="75000"/>
                  </a:schemeClr>
                </a:solidFill>
              </a:rPr>
              <a:t>Performance testing consist of 5 categories, load, stress, spike, endurance and scalability testing. </a:t>
            </a:r>
          </a:p>
          <a:p>
            <a:pPr lvl="0" algn="just"/>
            <a:r>
              <a:rPr lang="en-US" dirty="0">
                <a:solidFill>
                  <a:schemeClr val="accent5">
                    <a:lumMod val="75000"/>
                  </a:schemeClr>
                </a:solidFill>
              </a:rPr>
              <a:t>Load testing – Testing expected workloads of the application</a:t>
            </a:r>
            <a:r>
              <a:rPr lang="en-MY" dirty="0">
                <a:solidFill>
                  <a:schemeClr val="accent5">
                    <a:lumMod val="75000"/>
                  </a:schemeClr>
                </a:solidFill>
              </a:rPr>
              <a:t> i.e 2000 users to access a concert ticket website at one time</a:t>
            </a:r>
          </a:p>
          <a:p>
            <a:pPr lvl="0" algn="just"/>
            <a:r>
              <a:rPr lang="en-MY" dirty="0">
                <a:solidFill>
                  <a:schemeClr val="accent5">
                    <a:lumMod val="75000"/>
                  </a:schemeClr>
                </a:solidFill>
              </a:rPr>
              <a:t>Stress testing – Testing the limitations of the application to identify breaking threshold i.e testing an online shopping platform during a massive sale</a:t>
            </a:r>
          </a:p>
          <a:p>
            <a:pPr lvl="0" algn="just"/>
            <a:r>
              <a:rPr lang="en-MY" dirty="0">
                <a:solidFill>
                  <a:schemeClr val="accent5">
                    <a:lumMod val="75000"/>
                  </a:schemeClr>
                </a:solidFill>
              </a:rPr>
              <a:t>Spike testing – Testing drastic changes in the system i.e from 100 to 1500 user rapidly accessing the application at a time</a:t>
            </a:r>
          </a:p>
          <a:p>
            <a:pPr lvl="0" algn="just"/>
            <a:r>
              <a:rPr lang="en-MY" dirty="0">
                <a:solidFill>
                  <a:schemeClr val="accent5">
                    <a:lumMod val="75000"/>
                  </a:schemeClr>
                </a:solidFill>
              </a:rPr>
              <a:t>Endurance testing – Testing consistent workloads over time i.e Running workload for 24 hours or more</a:t>
            </a:r>
          </a:p>
          <a:p>
            <a:pPr lvl="0" algn="just"/>
            <a:r>
              <a:rPr lang="en-MY" dirty="0">
                <a:solidFill>
                  <a:schemeClr val="accent5">
                    <a:lumMod val="75000"/>
                  </a:schemeClr>
                </a:solidFill>
              </a:rPr>
              <a:t>Scalability testing – Testing system functionality by increasing workload over increased capacity i.e An online shopping platform planning to expand their business to handle 10000 concurrent users from 2000 users over time</a:t>
            </a:r>
            <a:endParaRPr lang="en-US" dirty="0">
              <a:solidFill>
                <a:schemeClr val="accent5">
                  <a:lumMod val="75000"/>
                </a:schemeClr>
              </a:solidFill>
            </a:endParaRPr>
          </a:p>
        </p:txBody>
      </p:sp>
    </p:spTree>
    <p:extLst>
      <p:ext uri="{BB962C8B-B14F-4D97-AF65-F5344CB8AC3E}">
        <p14:creationId xmlns:p14="http://schemas.microsoft.com/office/powerpoint/2010/main" val="313931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993B7-EF5E-AAF2-AA9E-F05D72AA3A40}"/>
            </a:ext>
          </a:extLst>
        </p:cNvPr>
        <p:cNvGrpSpPr/>
        <p:nvPr/>
      </p:nvGrpSpPr>
      <p:grpSpPr>
        <a:xfrm>
          <a:off x="0" y="0"/>
          <a:ext cx="0" cy="0"/>
          <a:chOff x="0" y="0"/>
          <a:chExt cx="0" cy="0"/>
        </a:xfrm>
      </p:grpSpPr>
      <p:sp>
        <p:nvSpPr>
          <p:cNvPr id="82" name="Slide Number Placeholder 81">
            <a:extLst>
              <a:ext uri="{FF2B5EF4-FFF2-40B4-BE49-F238E27FC236}">
                <a16:creationId xmlns:a16="http://schemas.microsoft.com/office/drawing/2014/main" id="{9177F863-B145-D354-8443-01F7A84BB7B2}"/>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7</a:t>
            </a:fld>
            <a:endParaRPr lang="en-US" dirty="0"/>
          </a:p>
        </p:txBody>
      </p:sp>
      <p:sp>
        <p:nvSpPr>
          <p:cNvPr id="4" name="Title 1">
            <a:extLst>
              <a:ext uri="{FF2B5EF4-FFF2-40B4-BE49-F238E27FC236}">
                <a16:creationId xmlns:a16="http://schemas.microsoft.com/office/drawing/2014/main" id="{AB0206AF-36B6-FA83-7E90-7E33EC53D660}"/>
              </a:ext>
              <a:ext uri="{C183D7F6-B498-43B3-948B-1728B52AA6E4}">
                <adec:decorative xmlns:adec="http://schemas.microsoft.com/office/drawing/2017/decorative" val="0"/>
              </a:ext>
            </a:extLst>
          </p:cNvPr>
          <p:cNvSpPr>
            <a:spLocks noGrp="1"/>
          </p:cNvSpPr>
          <p:nvPr>
            <p:ph type="title"/>
          </p:nvPr>
        </p:nvSpPr>
        <p:spPr>
          <a:xfrm>
            <a:off x="3718906" y="391885"/>
            <a:ext cx="4622349" cy="560751"/>
          </a:xfrm>
        </p:spPr>
        <p:txBody>
          <a:bodyPr>
            <a:normAutofit fontScale="90000"/>
          </a:bodyPr>
          <a:lstStyle/>
          <a:p>
            <a:r>
              <a:rPr lang="en-MY" sz="2500" b="1" dirty="0"/>
              <a:t>Q4: Performance Testing:</a:t>
            </a:r>
            <a:endParaRPr lang="en-ZA" sz="2500" b="1" dirty="0"/>
          </a:p>
        </p:txBody>
      </p:sp>
      <p:sp>
        <p:nvSpPr>
          <p:cNvPr id="11" name="TextBox 10">
            <a:extLst>
              <a:ext uri="{FF2B5EF4-FFF2-40B4-BE49-F238E27FC236}">
                <a16:creationId xmlns:a16="http://schemas.microsoft.com/office/drawing/2014/main" id="{C296A597-8631-1AAB-0E1A-5F912E64AC31}"/>
              </a:ext>
            </a:extLst>
          </p:cNvPr>
          <p:cNvSpPr txBox="1"/>
          <p:nvPr/>
        </p:nvSpPr>
        <p:spPr>
          <a:xfrm>
            <a:off x="1164771" y="1051446"/>
            <a:ext cx="9862458" cy="646331"/>
          </a:xfrm>
          <a:prstGeom prst="rect">
            <a:avLst/>
          </a:prstGeom>
          <a:noFill/>
        </p:spPr>
        <p:txBody>
          <a:bodyPr wrap="square">
            <a:spAutoFit/>
          </a:bodyPr>
          <a:lstStyle/>
          <a:p>
            <a:pPr marL="342900" lvl="0" indent="-342900">
              <a:buFont typeface="Arial" panose="020B0604020202020204" pitchFamily="34" charset="0"/>
              <a:buChar char="•"/>
            </a:pPr>
            <a:r>
              <a:rPr lang="en-MY" sz="1800" dirty="0"/>
              <a:t>What are the key metrics in performance test? How to analyse performance test results and improve system performance?</a:t>
            </a:r>
          </a:p>
        </p:txBody>
      </p:sp>
      <p:sp>
        <p:nvSpPr>
          <p:cNvPr id="13" name="TextBox 12">
            <a:extLst>
              <a:ext uri="{FF2B5EF4-FFF2-40B4-BE49-F238E27FC236}">
                <a16:creationId xmlns:a16="http://schemas.microsoft.com/office/drawing/2014/main" id="{5D37F111-A81F-9788-5C5D-73982890881F}"/>
              </a:ext>
            </a:extLst>
          </p:cNvPr>
          <p:cNvSpPr txBox="1"/>
          <p:nvPr/>
        </p:nvSpPr>
        <p:spPr>
          <a:xfrm>
            <a:off x="1504158" y="1697777"/>
            <a:ext cx="9249000" cy="2031325"/>
          </a:xfrm>
          <a:prstGeom prst="rect">
            <a:avLst/>
          </a:prstGeom>
          <a:noFill/>
        </p:spPr>
        <p:txBody>
          <a:bodyPr wrap="square">
            <a:spAutoFit/>
          </a:bodyPr>
          <a:lstStyle/>
          <a:p>
            <a:pPr lvl="0" algn="just"/>
            <a:r>
              <a:rPr lang="en-US" dirty="0">
                <a:solidFill>
                  <a:schemeClr val="accent5">
                    <a:lumMod val="75000"/>
                  </a:schemeClr>
                </a:solidFill>
              </a:rPr>
              <a:t>The key metrics in a performance test is its response time, throughput, error rate, concurrent users, resource utilization and latency. To analyze performance test results is by comparing result against requirements, examine slow requests and identifying when performance degrades. </a:t>
            </a:r>
          </a:p>
          <a:p>
            <a:pPr lvl="0" algn="just"/>
            <a:r>
              <a:rPr lang="en-US" dirty="0">
                <a:solidFill>
                  <a:schemeClr val="accent5">
                    <a:lumMod val="75000"/>
                  </a:schemeClr>
                </a:solidFill>
              </a:rPr>
              <a:t>To improve system performance, it heavily depends on the bottleneck of the situation/application. Hence the appropriate response to it could be by increasing capacity, optimizing or scaling up. </a:t>
            </a:r>
            <a:endParaRPr lang="en-MY" dirty="0">
              <a:solidFill>
                <a:schemeClr val="accent5">
                  <a:lumMod val="75000"/>
                </a:schemeClr>
              </a:solidFill>
            </a:endParaRPr>
          </a:p>
        </p:txBody>
      </p:sp>
    </p:spTree>
    <p:extLst>
      <p:ext uri="{BB962C8B-B14F-4D97-AF65-F5344CB8AC3E}">
        <p14:creationId xmlns:p14="http://schemas.microsoft.com/office/powerpoint/2010/main" val="353191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3099707" y="466972"/>
            <a:ext cx="5992586" cy="305914"/>
          </a:xfrm>
        </p:spPr>
        <p:txBody>
          <a:bodyPr>
            <a:normAutofit fontScale="90000"/>
          </a:bodyPr>
          <a:lstStyle/>
          <a:p>
            <a:r>
              <a:rPr lang="en-MY" b="1" dirty="0"/>
              <a:t>Q5 : QA’s Role in Agile &amp; DevOps:</a:t>
            </a:r>
            <a:endParaRPr lang="en-US" b="1" dirty="0"/>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8</a:t>
            </a:fld>
            <a:endParaRPr lang="en-US" dirty="0"/>
          </a:p>
        </p:txBody>
      </p:sp>
      <p:sp>
        <p:nvSpPr>
          <p:cNvPr id="23" name="TextBox 22">
            <a:extLst>
              <a:ext uri="{FF2B5EF4-FFF2-40B4-BE49-F238E27FC236}">
                <a16:creationId xmlns:a16="http://schemas.microsoft.com/office/drawing/2014/main" id="{464CBC28-5240-82BF-7294-AE65AA47E6CE}"/>
              </a:ext>
            </a:extLst>
          </p:cNvPr>
          <p:cNvSpPr txBox="1"/>
          <p:nvPr/>
        </p:nvSpPr>
        <p:spPr>
          <a:xfrm>
            <a:off x="1676400" y="1037550"/>
            <a:ext cx="8773887" cy="369332"/>
          </a:xfrm>
          <a:prstGeom prst="rect">
            <a:avLst/>
          </a:prstGeom>
          <a:noFill/>
        </p:spPr>
        <p:txBody>
          <a:bodyPr wrap="square">
            <a:spAutoFit/>
          </a:bodyPr>
          <a:lstStyle/>
          <a:p>
            <a:pPr marL="342900" lvl="0" indent="-342900">
              <a:buFont typeface="Arial" panose="020B0604020202020204" pitchFamily="34" charset="0"/>
              <a:buChar char="•"/>
            </a:pPr>
            <a:r>
              <a:rPr lang="en-MY" dirty="0"/>
              <a:t>How QA integrates into Agile and DevOps workflows?</a:t>
            </a:r>
          </a:p>
        </p:txBody>
      </p:sp>
      <p:sp>
        <p:nvSpPr>
          <p:cNvPr id="29" name="TextBox 28">
            <a:extLst>
              <a:ext uri="{FF2B5EF4-FFF2-40B4-BE49-F238E27FC236}">
                <a16:creationId xmlns:a16="http://schemas.microsoft.com/office/drawing/2014/main" id="{6AEE6B40-86F4-3943-B03F-454BD071BC47}"/>
              </a:ext>
            </a:extLst>
          </p:cNvPr>
          <p:cNvSpPr txBox="1"/>
          <p:nvPr/>
        </p:nvSpPr>
        <p:spPr>
          <a:xfrm>
            <a:off x="1676399" y="2319048"/>
            <a:ext cx="8251371" cy="369332"/>
          </a:xfrm>
          <a:prstGeom prst="rect">
            <a:avLst/>
          </a:prstGeom>
          <a:noFill/>
        </p:spPr>
        <p:txBody>
          <a:bodyPr wrap="square">
            <a:spAutoFit/>
          </a:bodyPr>
          <a:lstStyle/>
          <a:p>
            <a:pPr marL="285750" indent="-285750">
              <a:buFont typeface="Arial" panose="020B0604020202020204" pitchFamily="34" charset="0"/>
              <a:buChar char="•"/>
            </a:pPr>
            <a:r>
              <a:rPr lang="en-MY" sz="1800" dirty="0"/>
              <a:t>Describe Shift-Left Testing approach and its benefits</a:t>
            </a:r>
            <a:endParaRPr lang="en-MY" dirty="0"/>
          </a:p>
        </p:txBody>
      </p:sp>
      <p:sp>
        <p:nvSpPr>
          <p:cNvPr id="31" name="TextBox 30">
            <a:extLst>
              <a:ext uri="{FF2B5EF4-FFF2-40B4-BE49-F238E27FC236}">
                <a16:creationId xmlns:a16="http://schemas.microsoft.com/office/drawing/2014/main" id="{91EF166F-7836-0E3E-EBA9-8DDD7D55754E}"/>
              </a:ext>
            </a:extLst>
          </p:cNvPr>
          <p:cNvSpPr txBox="1"/>
          <p:nvPr/>
        </p:nvSpPr>
        <p:spPr>
          <a:xfrm>
            <a:off x="2020265" y="1410009"/>
            <a:ext cx="8495335" cy="646331"/>
          </a:xfrm>
          <a:prstGeom prst="rect">
            <a:avLst/>
          </a:prstGeom>
          <a:noFill/>
        </p:spPr>
        <p:txBody>
          <a:bodyPr wrap="square">
            <a:spAutoFit/>
          </a:bodyPr>
          <a:lstStyle/>
          <a:p>
            <a:pPr lvl="0" algn="just"/>
            <a:r>
              <a:rPr lang="en-US" dirty="0">
                <a:solidFill>
                  <a:schemeClr val="accent5">
                    <a:lumMod val="75000"/>
                  </a:schemeClr>
                </a:solidFill>
              </a:rPr>
              <a:t>QA integrates into Agile and DevOps by continuously testing through developmental stages without having to wait until the development is complete.</a:t>
            </a:r>
            <a:endParaRPr lang="en-MY" dirty="0">
              <a:solidFill>
                <a:schemeClr val="accent5">
                  <a:lumMod val="75000"/>
                </a:schemeClr>
              </a:solidFill>
            </a:endParaRPr>
          </a:p>
        </p:txBody>
      </p:sp>
      <p:sp>
        <p:nvSpPr>
          <p:cNvPr id="33" name="TextBox 32">
            <a:extLst>
              <a:ext uri="{FF2B5EF4-FFF2-40B4-BE49-F238E27FC236}">
                <a16:creationId xmlns:a16="http://schemas.microsoft.com/office/drawing/2014/main" id="{22102CC1-3317-93D0-B624-BDA3DFF358EA}"/>
              </a:ext>
            </a:extLst>
          </p:cNvPr>
          <p:cNvSpPr txBox="1"/>
          <p:nvPr/>
        </p:nvSpPr>
        <p:spPr>
          <a:xfrm>
            <a:off x="1954952" y="2688380"/>
            <a:ext cx="8495335" cy="1477328"/>
          </a:xfrm>
          <a:prstGeom prst="rect">
            <a:avLst/>
          </a:prstGeom>
          <a:noFill/>
        </p:spPr>
        <p:txBody>
          <a:bodyPr wrap="square">
            <a:spAutoFit/>
          </a:bodyPr>
          <a:lstStyle/>
          <a:p>
            <a:pPr lvl="0" algn="just"/>
            <a:r>
              <a:rPr lang="en-US" dirty="0">
                <a:solidFill>
                  <a:schemeClr val="accent5">
                    <a:lumMod val="75000"/>
                  </a:schemeClr>
                </a:solidFill>
              </a:rPr>
              <a:t>Shift-Left approach is an approach where testing happens earlier on in the SDLC when it is much easier to detect and cheaper to fix. </a:t>
            </a:r>
          </a:p>
          <a:p>
            <a:pPr lvl="0" algn="just"/>
            <a:endParaRPr lang="en-US" dirty="0">
              <a:solidFill>
                <a:schemeClr val="accent5">
                  <a:lumMod val="75000"/>
                </a:schemeClr>
              </a:solidFill>
            </a:endParaRPr>
          </a:p>
          <a:p>
            <a:pPr lvl="0" algn="just"/>
            <a:r>
              <a:rPr lang="en-US" dirty="0">
                <a:solidFill>
                  <a:schemeClr val="accent5">
                    <a:lumMod val="75000"/>
                  </a:schemeClr>
                </a:solidFill>
              </a:rPr>
              <a:t>For an organization, the benefits are wide. This approach helps in reducing cost, faster delivery, reduced production risks and early error detection. </a:t>
            </a:r>
            <a:endParaRPr lang="en-MY" dirty="0">
              <a:solidFill>
                <a:schemeClr val="accent5">
                  <a:lumMod val="75000"/>
                </a:schemeClr>
              </a:solidFill>
            </a:endParaRPr>
          </a:p>
        </p:txBody>
      </p:sp>
    </p:spTree>
    <p:extLst>
      <p:ext uri="{BB962C8B-B14F-4D97-AF65-F5344CB8AC3E}">
        <p14:creationId xmlns:p14="http://schemas.microsoft.com/office/powerpoint/2010/main" val="1472106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4"/>
            <a:ext cx="4179570" cy="1290354"/>
          </a:xfrm>
        </p:spPr>
        <p:txBody>
          <a:bodyPr>
            <a:normAutofit/>
          </a:bodyPr>
          <a:lstStyle/>
          <a:p>
            <a:r>
              <a:rPr lang="en-US" dirty="0"/>
              <a:t>YASMIN BINTI ISHAMIL</a:t>
            </a:r>
          </a:p>
          <a:p>
            <a:r>
              <a:rPr lang="en-US" dirty="0"/>
              <a:t>+(60) 19 346 7802</a:t>
            </a:r>
          </a:p>
          <a:p>
            <a:r>
              <a:rPr lang="en-US" dirty="0"/>
              <a:t>yasminishamil@gmail.com</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light pitch_tm56180624_Win32_LW_SL_v3" id="{5A4404DB-4ECC-4373-8C35-B428B8CCB737}" vid="{DB02F28E-0C23-47F0-A348-62748A79E20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3.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 light sales pitch</Template>
  <TotalTime>743</TotalTime>
  <Words>1086</Words>
  <Application>Microsoft Office PowerPoint</Application>
  <PresentationFormat>Widescreen</PresentationFormat>
  <Paragraphs>62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Tenorite</vt:lpstr>
      <vt:lpstr>Monoline</vt:lpstr>
      <vt:lpstr>AEM ASSESSMENT QUALITY ASSURANCE POSITION</vt:lpstr>
      <vt:lpstr>Q1: QA Role &amp; Importance:</vt:lpstr>
      <vt:lpstr>Q2: QA Testing Processes &amp; Methodologies:</vt:lpstr>
      <vt:lpstr>Q2: QA Testing Processes &amp; Methodologies:</vt:lpstr>
      <vt:lpstr>Q3: Automation Testing:</vt:lpstr>
      <vt:lpstr>Q4: Performance Testing:</vt:lpstr>
      <vt:lpstr>Q4: Performance Testing:</vt:lpstr>
      <vt:lpstr>Q5 : QA’s Role in Agile &amp; DevOps: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Yasmin Ishamil</dc:creator>
  <cp:lastModifiedBy>Yasmin Ishamil</cp:lastModifiedBy>
  <cp:revision>3</cp:revision>
  <dcterms:created xsi:type="dcterms:W3CDTF">2026-10-28T04:51:05Z</dcterms:created>
  <dcterms:modified xsi:type="dcterms:W3CDTF">2026-10-28T17:14:43Z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